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554480"/>
            <a:ext cx="11155680" cy="914400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GREEK BANKING SECTOR ANALYSIS</a:t>
            </a:r>
          </a:p>
        </p:txBody>
      </p:sp>
      <p:sp>
        <p:nvSpPr>
          <p:cNvPr id="3" name="Eurobank colour bar"/>
          <p:cNvSpPr/>
          <p:nvPr/>
        </p:nvSpPr>
        <p:spPr>
          <a:xfrm>
            <a:off x="548640" y="1234440"/>
            <a:ext cx="777240" cy="109728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lpha Bank colour bar"/>
          <p:cNvSpPr/>
          <p:nvPr/>
        </p:nvSpPr>
        <p:spPr>
          <a:xfrm>
            <a:off x="1417319" y="1234440"/>
            <a:ext cx="777240" cy="109728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raeus Bank colour bar"/>
          <p:cNvSpPr/>
          <p:nvPr/>
        </p:nvSpPr>
        <p:spPr>
          <a:xfrm>
            <a:off x="2286000" y="1234440"/>
            <a:ext cx="777240" cy="109728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BG colour bar"/>
          <p:cNvSpPr/>
          <p:nvPr/>
        </p:nvSpPr>
        <p:spPr>
          <a:xfrm>
            <a:off x="3154679" y="1234440"/>
            <a:ext cx="777240" cy="109728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riod"/>
          <p:cNvSpPr txBox="1"/>
          <p:nvPr/>
        </p:nvSpPr>
        <p:spPr>
          <a:xfrm>
            <a:off x="548640" y="2514600"/>
            <a:ext cx="5486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2600" b="0" i="0">
                <a:solidFill>
                  <a:srgbClr val="A6B2C4"/>
                </a:solidFill>
                <a:latin typeface="Calibri"/>
              </a:rPr>
              <a:t>FY2022–2024</a:t>
            </a:r>
          </a:p>
        </p:txBody>
      </p:sp>
      <p:sp>
        <p:nvSpPr>
          <p:cNvPr id="8" name="Banks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Calibri"/>
              </a:rPr>
              <a:t>Eurobank  ·  Alpha Bank  ·  Piraeus Bank  ·  NBG</a:t>
            </a:r>
          </a:p>
        </p:txBody>
      </p:sp>
      <p:sp>
        <p:nvSpPr>
          <p:cNvPr id="9" name="Entities"/>
          <p:cNvSpPr txBox="1"/>
          <p:nvPr/>
        </p:nvSpPr>
        <p:spPr>
          <a:xfrm>
            <a:off x="548640" y="3566160"/>
            <a:ext cx="1124712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Consolidated group figures: Alpha Services and Holdings S.A., Eurobank Ergasias Services and Holdings S.A., National Bank of Greece S.A., Piraeus Financial Holdings S.A.</a:t>
            </a:r>
          </a:p>
        </p:txBody>
      </p:sp>
      <p:sp>
        <p:nvSpPr>
          <p:cNvPr id="10" name="Basis"/>
          <p:cNvSpPr txBox="1"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Latest restated figures. Every number is traced to a PDF page.</a:t>
            </a:r>
          </a:p>
        </p:txBody>
      </p:sp>
      <p:sp>
        <p:nvSpPr>
          <p:cNvPr id="11" name="Author"/>
          <p:cNvSpPr txBox="1"/>
          <p:nvPr/>
        </p:nvSpPr>
        <p:spPr>
          <a:xfrm>
            <a:off x="548640" y="4800600"/>
            <a:ext cx="5486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Calibri"/>
              </a:rPr>
              <a:t>Spyros Papastergiou</a:t>
            </a:r>
          </a:p>
        </p:txBody>
      </p:sp>
      <p:sp>
        <p:nvSpPr>
          <p:cNvPr id="12" name="Contact"/>
          <p:cNvSpPr txBox="1"/>
          <p:nvPr/>
        </p:nvSpPr>
        <p:spPr>
          <a:xfrm>
            <a:off x="548640" y="5212080"/>
            <a:ext cx="1133856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papastergiousp@gmail.com   |   github.com/papastergiousp-maker/greek-banking-sector-analysis   |   phytai.com/dashboard</a:t>
            </a:r>
          </a:p>
        </p:txBody>
      </p:sp>
      <p:sp>
        <p:nvSpPr>
          <p:cNvPr id="13" name="Disclaimer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1">
                <a:solidFill>
                  <a:srgbClr val="A6B2C4"/>
                </a:solidFill>
                <a:latin typeface="Calibri"/>
              </a:rPr>
              <a:t>For portfolio and educational purposes only.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Four listed groups, FY2022–2024. €m unless stated.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2 / 12</a:t>
            </a:r>
          </a:p>
        </p:txBody>
      </p:sp>
      <p:sp>
        <p:nvSpPr>
          <p:cNvPr id="6" name="Card"/>
          <p:cNvSpPr/>
          <p:nvPr/>
        </p:nvSpPr>
        <p:spPr>
          <a:xfrm>
            <a:off x="320040" y="1188720"/>
            <a:ext cx="2743200" cy="24231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accent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title"/>
          <p:cNvSpPr txBox="1"/>
          <p:nvPr/>
        </p:nvSpPr>
        <p:spPr>
          <a:xfrm>
            <a:off x="411479" y="1325880"/>
            <a:ext cx="2560320" cy="56692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Sector NII up 59.9% in two years</a:t>
            </a:r>
          </a:p>
        </p:txBody>
      </p:sp>
      <p:sp>
        <p:nvSpPr>
          <p:cNvPr id="9" name="Card text"/>
          <p:cNvSpPr txBox="1"/>
          <p:nvPr/>
        </p:nvSpPr>
        <p:spPr>
          <a:xfrm>
            <a:off x="411479" y="1920240"/>
            <a:ext cx="2560320" cy="19202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50" b="0" i="0">
                <a:solidFill>
                  <a:srgbClr val="A6B2C4"/>
                </a:solidFill>
                <a:latin typeface="Calibri"/>
              </a:rPr>
              <a:t>Net interest income of the four banks rose from €5,376m in 2022 to €8,596m in 2024. Most of it came in 2023, when wider margins added €2,891m (rate effect). In 2024 NII grew by only €497m: €270m from rate and €225m from volume.</a:t>
            </a:r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743200" cy="24231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accent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title"/>
          <p:cNvSpPr txBox="1"/>
          <p:nvPr/>
        </p:nvSpPr>
        <p:spPr>
          <a:xfrm>
            <a:off x="3337560" y="1325880"/>
            <a:ext cx="2560320" cy="56692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2022 profit includes one-offs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3337560" y="1920240"/>
            <a:ext cx="2560320" cy="19202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50" b="0" i="0">
                <a:solidFill>
                  <a:srgbClr val="A6B2C4"/>
                </a:solidFill>
                <a:latin typeface="Calibri"/>
              </a:rPr>
              <a:t>Sector net profit for 2022 was €3,785m as reported and €2,577m on an underlying basis. On underlying figures 2023 profit rose about 42% instead of falling 3.5%.</a:t>
            </a:r>
          </a:p>
        </p:txBody>
      </p:sp>
      <p:sp>
        <p:nvSpPr>
          <p:cNvPr id="14" name="Card"/>
          <p:cNvSpPr/>
          <p:nvPr/>
        </p:nvSpPr>
        <p:spPr>
          <a:xfrm>
            <a:off x="6172200" y="1188720"/>
            <a:ext cx="2743200" cy="24231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accent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title"/>
          <p:cNvSpPr txBox="1"/>
          <p:nvPr/>
        </p:nvSpPr>
        <p:spPr>
          <a:xfrm>
            <a:off x="6263640" y="1325880"/>
            <a:ext cx="2560320" cy="56692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Alpha is the weak point under stress</a:t>
            </a:r>
          </a:p>
        </p:txBody>
      </p:sp>
      <p:sp>
        <p:nvSpPr>
          <p:cNvPr id="17" name="Card text"/>
          <p:cNvSpPr txBox="1"/>
          <p:nvPr/>
        </p:nvSpPr>
        <p:spPr>
          <a:xfrm>
            <a:off x="6263640" y="1920240"/>
            <a:ext cx="2560320" cy="19202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50" b="0" i="0">
                <a:solidFill>
                  <a:srgbClr val="A6B2C4"/>
                </a:solidFill>
                <a:latin typeface="Calibri"/>
              </a:rPr>
              <a:t>In a one-year stress test three banks stay profitable and Alpha loses €118m. Alpha can absorb 209bp of extra cost of risk before a pre-tax loss, against 353 to 420bp for the other three.</a:t>
            </a:r>
          </a:p>
        </p:txBody>
      </p:sp>
      <p:sp>
        <p:nvSpPr>
          <p:cNvPr id="18" name="Card"/>
          <p:cNvSpPr/>
          <p:nvPr/>
        </p:nvSpPr>
        <p:spPr>
          <a:xfrm>
            <a:off x="9098280" y="1188720"/>
            <a:ext cx="2743200" cy="24231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accent"/>
          <p:cNvSpPr/>
          <p:nvPr/>
        </p:nvSpPr>
        <p:spPr>
          <a:xfrm>
            <a:off x="9098280" y="1188720"/>
            <a:ext cx="2743200" cy="64008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title"/>
          <p:cNvSpPr txBox="1"/>
          <p:nvPr/>
        </p:nvSpPr>
        <p:spPr>
          <a:xfrm>
            <a:off x="9189720" y="1325880"/>
            <a:ext cx="2560320" cy="56692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Capital quality and funding</a:t>
            </a:r>
          </a:p>
        </p:txBody>
      </p:sp>
      <p:sp>
        <p:nvSpPr>
          <p:cNvPr id="21" name="Card text"/>
          <p:cNvSpPr txBox="1"/>
          <p:nvPr/>
        </p:nvSpPr>
        <p:spPr>
          <a:xfrm>
            <a:off x="9189720" y="1920240"/>
            <a:ext cx="2560320" cy="19202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50" b="0" i="0">
                <a:solidFill>
                  <a:srgbClr val="A6B2C4"/>
                </a:solidFill>
                <a:latin typeface="Calibri"/>
              </a:rPr>
              <a:t>DTCs fell from €13.5bn in 2022 to €12.0bn in 2024. At end-2024 they were 36% of CET1 capital at Eurobank and 63% at Piraeus. ECB funding of the four banks fell from €35.1bn (end-2022) to €2.6bn (end-2024), all of it at Alpha.</a:t>
            </a:r>
          </a:p>
        </p:txBody>
      </p:sp>
      <p:sp>
        <p:nvSpPr>
          <p:cNvPr id="22" name="Table title"/>
          <p:cNvSpPr txBox="1"/>
          <p:nvPr/>
        </p:nvSpPr>
        <p:spPr>
          <a:xfrm>
            <a:off x="320040" y="3794760"/>
            <a:ext cx="5486400" cy="2743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FY2024 key figures</a:t>
            </a:r>
          </a:p>
        </p:txBody>
      </p:sp>
      <p:graphicFrame>
        <p:nvGraphicFramePr>
          <p:cNvPr id="23" name="FY2024 key figures" descr="Table of FY2024 net profit, ROE, RoTE, NIM, cost-to-income, CET1, NPE ratio and DTC share of CET1 for the four banks. Green marks the best of the four."/>
          <p:cNvGraphicFramePr>
            <a:graphicFrameLocks noGrp="1"/>
          </p:cNvGraphicFramePr>
          <p:nvPr/>
        </p:nvGraphicFramePr>
        <p:xfrm>
          <a:off x="320040" y="4114800"/>
          <a:ext cx="11521440" cy="18288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37360"/>
                <a:gridCol w="1417320"/>
                <a:gridCol w="1051560"/>
                <a:gridCol w="1051560"/>
                <a:gridCol w="1051560"/>
                <a:gridCol w="1600200"/>
                <a:gridCol w="1097280"/>
                <a:gridCol w="105156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Bank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Net profit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ROE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RoTE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NIM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Cost-to-income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CET1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NPE ratio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DTC / CET1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E90E8"/>
                          </a:solidFill>
                          <a:latin typeface="Calibri"/>
                        </a:rPr>
                        <a:t>Eurobank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€1,448m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17.2%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2.77%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32.9%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5448"/>
                          </a:solidFill>
                          <a:latin typeface="Calibri"/>
                        </a:rPr>
                        <a:t>Alpha Bank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€654m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2.28%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39.0%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16.3%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7A600"/>
                          </a:solidFill>
                          <a:latin typeface="Calibri"/>
                        </a:rPr>
                        <a:t>Piraeus Bank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€1,066m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2.67%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31.8%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96A0FF"/>
                          </a:solidFill>
                          <a:latin typeface="Calibri"/>
                        </a:rPr>
                        <a:t>NBG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€1,158m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14.4%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15.5%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3.15%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36.5%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18.3%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</a:tr>
            </a:tbl>
          </a:graphicData>
        </a:graphic>
      </p:graphicFrame>
      <p:sp>
        <p:nvSpPr>
          <p:cNvPr id="24" name="Table note"/>
          <p:cNvSpPr txBox="1"/>
          <p:nvPr/>
        </p:nvSpPr>
        <p:spPr>
          <a:xfrm>
            <a:off x="320040" y="6035040"/>
            <a:ext cx="1152144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100" b="0" i="0">
                <a:solidFill>
                  <a:srgbClr val="A6B2C4"/>
                </a:solidFill>
                <a:latin typeface="Calibri"/>
              </a:rPr>
              <a:t>Green = best of the four (lowest for cost-to-income, NPE ratio and DTC / CET1). DTC = deferred tax credit, a tax claim on the Greek State that counts in CET1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Sector Landscape: NII and Profitability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Sector NII rose 59.9% from 2022 to 2024. €m unless stated.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3 / 12</a:t>
            </a:r>
          </a:p>
        </p:txBody>
      </p:sp>
      <p:pic>
        <p:nvPicPr>
          <p:cNvPr id="6" name="NII and ROE charts" descr="Left: grouped bar chart of net interest income for each bank in 2022, 2023 and 2024. Sector total 5,376, 8,099 and 8,596 million euro. Right: line chart of return on average equity per bank, 2022 to 2024, with a dashed line at the assumed cost of equity of 10 perc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4021153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320040" y="5440680"/>
            <a:ext cx="11521440" cy="9144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A6B2C4"/>
                </a:solidFill>
                <a:latin typeface="Calibri"/>
              </a:rPr>
              <a:t>Net profit of the four banks: €3,785m (2022), €3,652m (2023), €4,326m (2024). 2022 includes one-off items (underlying €2,577m).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A6B2C4"/>
                </a:solidFill>
                <a:latin typeface="Calibri"/>
              </a:rPr>
              <a:t>Eurobank 2024 includes Hellenic Bank, consolidated from 30 June 2024.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Eurobank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Eurobank Ergasias Services and Holdings S.A.  |  FY2024 snapshot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4 / 12</a:t>
            </a:r>
          </a:p>
        </p:txBody>
      </p:sp>
      <p:sp>
        <p:nvSpPr>
          <p:cNvPr id="6" name="KPI card"/>
          <p:cNvSpPr/>
          <p:nvPr/>
        </p:nvSpPr>
        <p:spPr>
          <a:xfrm>
            <a:off x="32004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accent"/>
          <p:cNvSpPr/>
          <p:nvPr/>
        </p:nvSpPr>
        <p:spPr>
          <a:xfrm>
            <a:off x="320040" y="1188720"/>
            <a:ext cx="1810512" cy="54864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PI label"/>
          <p:cNvSpPr txBox="1"/>
          <p:nvPr/>
        </p:nvSpPr>
        <p:spPr>
          <a:xfrm>
            <a:off x="365759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ROE</a:t>
            </a:r>
          </a:p>
        </p:txBody>
      </p:sp>
      <p:sp>
        <p:nvSpPr>
          <p:cNvPr id="9" name="KPI value"/>
          <p:cNvSpPr txBox="1"/>
          <p:nvPr/>
        </p:nvSpPr>
        <p:spPr>
          <a:xfrm>
            <a:off x="365759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17.2%</a:t>
            </a:r>
          </a:p>
        </p:txBody>
      </p:sp>
      <p:sp>
        <p:nvSpPr>
          <p:cNvPr id="10" name="KPI change"/>
          <p:cNvSpPr txBox="1"/>
          <p:nvPr/>
        </p:nvSpPr>
        <p:spPr>
          <a:xfrm>
            <a:off x="365759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+1.5 pp vs 2023</a:t>
            </a:r>
          </a:p>
        </p:txBody>
      </p:sp>
      <p:sp>
        <p:nvSpPr>
          <p:cNvPr id="11" name="KPI card"/>
          <p:cNvSpPr/>
          <p:nvPr/>
        </p:nvSpPr>
        <p:spPr>
          <a:xfrm>
            <a:off x="2258568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 accent"/>
          <p:cNvSpPr/>
          <p:nvPr/>
        </p:nvSpPr>
        <p:spPr>
          <a:xfrm>
            <a:off x="2258568" y="1188720"/>
            <a:ext cx="1810512" cy="54864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label"/>
          <p:cNvSpPr txBox="1"/>
          <p:nvPr/>
        </p:nvSpPr>
        <p:spPr>
          <a:xfrm>
            <a:off x="2304288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NIM</a:t>
            </a:r>
          </a:p>
        </p:txBody>
      </p:sp>
      <p:sp>
        <p:nvSpPr>
          <p:cNvPr id="14" name="KPI value"/>
          <p:cNvSpPr txBox="1"/>
          <p:nvPr/>
        </p:nvSpPr>
        <p:spPr>
          <a:xfrm>
            <a:off x="2304288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2.77%</a:t>
            </a:r>
          </a:p>
        </p:txBody>
      </p:sp>
      <p:sp>
        <p:nvSpPr>
          <p:cNvPr id="15" name="KPI change"/>
          <p:cNvSpPr txBox="1"/>
          <p:nvPr/>
        </p:nvSpPr>
        <p:spPr>
          <a:xfrm>
            <a:off x="2304288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+0.07 pp vs 2023</a:t>
            </a:r>
          </a:p>
        </p:txBody>
      </p:sp>
      <p:sp>
        <p:nvSpPr>
          <p:cNvPr id="16" name="KPI card"/>
          <p:cNvSpPr/>
          <p:nvPr/>
        </p:nvSpPr>
        <p:spPr>
          <a:xfrm>
            <a:off x="4197096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accent"/>
          <p:cNvSpPr/>
          <p:nvPr/>
        </p:nvSpPr>
        <p:spPr>
          <a:xfrm>
            <a:off x="4197096" y="1188720"/>
            <a:ext cx="1810512" cy="54864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label"/>
          <p:cNvSpPr txBox="1"/>
          <p:nvPr/>
        </p:nvSpPr>
        <p:spPr>
          <a:xfrm>
            <a:off x="4242816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CET1</a:t>
            </a:r>
          </a:p>
        </p:txBody>
      </p:sp>
      <p:sp>
        <p:nvSpPr>
          <p:cNvPr id="19" name="KPI value"/>
          <p:cNvSpPr txBox="1"/>
          <p:nvPr/>
        </p:nvSpPr>
        <p:spPr>
          <a:xfrm>
            <a:off x="4242816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16.8%</a:t>
            </a:r>
          </a:p>
        </p:txBody>
      </p:sp>
      <p:sp>
        <p:nvSpPr>
          <p:cNvPr id="20" name="KPI change"/>
          <p:cNvSpPr txBox="1"/>
          <p:nvPr/>
        </p:nvSpPr>
        <p:spPr>
          <a:xfrm>
            <a:off x="4242816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  <a:latin typeface="Calibri"/>
              </a:rPr>
              <a:t>-0.1 pp vs 2023</a:t>
            </a:r>
          </a:p>
        </p:txBody>
      </p:sp>
      <p:sp>
        <p:nvSpPr>
          <p:cNvPr id="21" name="KPI card"/>
          <p:cNvSpPr/>
          <p:nvPr/>
        </p:nvSpPr>
        <p:spPr>
          <a:xfrm>
            <a:off x="6135624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accent"/>
          <p:cNvSpPr/>
          <p:nvPr/>
        </p:nvSpPr>
        <p:spPr>
          <a:xfrm>
            <a:off x="6135624" y="1188720"/>
            <a:ext cx="1810512" cy="54864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label"/>
          <p:cNvSpPr txBox="1"/>
          <p:nvPr/>
        </p:nvSpPr>
        <p:spPr>
          <a:xfrm>
            <a:off x="6181344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Cost-to-income</a:t>
            </a:r>
          </a:p>
        </p:txBody>
      </p:sp>
      <p:sp>
        <p:nvSpPr>
          <p:cNvPr id="24" name="KPI value"/>
          <p:cNvSpPr txBox="1"/>
          <p:nvPr/>
        </p:nvSpPr>
        <p:spPr>
          <a:xfrm>
            <a:off x="6181344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32.9%</a:t>
            </a:r>
          </a:p>
        </p:txBody>
      </p:sp>
      <p:sp>
        <p:nvSpPr>
          <p:cNvPr id="25" name="KPI change"/>
          <p:cNvSpPr txBox="1"/>
          <p:nvPr/>
        </p:nvSpPr>
        <p:spPr>
          <a:xfrm>
            <a:off x="6181344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  <a:latin typeface="Calibri"/>
              </a:rPr>
              <a:t>+1.5 pp vs 2023</a:t>
            </a:r>
          </a:p>
        </p:txBody>
      </p:sp>
      <p:sp>
        <p:nvSpPr>
          <p:cNvPr id="26" name="KPI card"/>
          <p:cNvSpPr/>
          <p:nvPr/>
        </p:nvSpPr>
        <p:spPr>
          <a:xfrm>
            <a:off x="8074152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accent"/>
          <p:cNvSpPr/>
          <p:nvPr/>
        </p:nvSpPr>
        <p:spPr>
          <a:xfrm>
            <a:off x="8074152" y="1188720"/>
            <a:ext cx="1810512" cy="54864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label"/>
          <p:cNvSpPr txBox="1"/>
          <p:nvPr/>
        </p:nvSpPr>
        <p:spPr>
          <a:xfrm>
            <a:off x="8119872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NPE ratio</a:t>
            </a:r>
          </a:p>
        </p:txBody>
      </p:sp>
      <p:sp>
        <p:nvSpPr>
          <p:cNvPr id="29" name="KPI value"/>
          <p:cNvSpPr txBox="1"/>
          <p:nvPr/>
        </p:nvSpPr>
        <p:spPr>
          <a:xfrm>
            <a:off x="8119872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2.9%</a:t>
            </a:r>
          </a:p>
        </p:txBody>
      </p:sp>
      <p:sp>
        <p:nvSpPr>
          <p:cNvPr id="30" name="KPI change"/>
          <p:cNvSpPr txBox="1"/>
          <p:nvPr/>
        </p:nvSpPr>
        <p:spPr>
          <a:xfrm>
            <a:off x="8119872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-0.6 pp vs 2023</a:t>
            </a:r>
          </a:p>
        </p:txBody>
      </p:sp>
      <p:sp>
        <p:nvSpPr>
          <p:cNvPr id="31" name="KPI card"/>
          <p:cNvSpPr/>
          <p:nvPr/>
        </p:nvSpPr>
        <p:spPr>
          <a:xfrm>
            <a:off x="1001268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accent"/>
          <p:cNvSpPr/>
          <p:nvPr/>
        </p:nvSpPr>
        <p:spPr>
          <a:xfrm>
            <a:off x="10012680" y="1188720"/>
            <a:ext cx="1810512" cy="54864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PI label"/>
          <p:cNvSpPr txBox="1"/>
          <p:nvPr/>
        </p:nvSpPr>
        <p:spPr>
          <a:xfrm>
            <a:off x="10058400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Net profit</a:t>
            </a:r>
          </a:p>
        </p:txBody>
      </p:sp>
      <p:sp>
        <p:nvSpPr>
          <p:cNvPr id="34" name="KPI value"/>
          <p:cNvSpPr txBox="1"/>
          <p:nvPr/>
        </p:nvSpPr>
        <p:spPr>
          <a:xfrm>
            <a:off x="10058400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€1,448m</a:t>
            </a:r>
          </a:p>
        </p:txBody>
      </p:sp>
      <p:sp>
        <p:nvSpPr>
          <p:cNvPr id="35" name="KPI change"/>
          <p:cNvSpPr txBox="1"/>
          <p:nvPr/>
        </p:nvSpPr>
        <p:spPr>
          <a:xfrm>
            <a:off x="10058400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+27.0% vs 2023</a:t>
            </a:r>
          </a:p>
        </p:txBody>
      </p:sp>
      <p:sp>
        <p:nvSpPr>
          <p:cNvPr id="36" name="Points title"/>
          <p:cNvSpPr txBox="1"/>
          <p:nvPr/>
        </p:nvSpPr>
        <p:spPr>
          <a:xfrm>
            <a:off x="320040" y="2468880"/>
            <a:ext cx="603504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What the numbers show</a:t>
            </a:r>
          </a:p>
        </p:txBody>
      </p:sp>
      <p:sp>
        <p:nvSpPr>
          <p:cNvPr id="37" name="Points rule"/>
          <p:cNvSpPr/>
          <p:nvPr/>
        </p:nvSpPr>
        <p:spPr>
          <a:xfrm>
            <a:off x="320040" y="2807208"/>
            <a:ext cx="6035040" cy="27432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ints"/>
          <p:cNvSpPr txBox="1"/>
          <p:nvPr/>
        </p:nvSpPr>
        <p:spPr>
          <a:xfrm>
            <a:off x="320040" y="2926080"/>
            <a:ext cx="6035040" cy="35204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2E90E8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Returns.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Highest ROE (17.2%) and largest net profit (€1,448m) of the four banks in 2024.</a:t>
            </a:r>
          </a:p>
          <a:p>
            <a:pPr marL="182880" indent="-182880">
              <a:spcAft>
                <a:spcPts val="800"/>
              </a:spcAft>
              <a:buClr>
                <a:srgbClr val="2E90E8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Hellenic Bank.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Consolidated from 30 June 2024. Total assets rose 26.8% to €101,150m and deposits rose 36.8%. Its volume effect on NII was €265m.</a:t>
            </a:r>
          </a:p>
          <a:p>
            <a:pPr marL="182880" indent="-182880">
              <a:spcAft>
                <a:spcPts val="800"/>
              </a:spcAft>
              <a:buClr>
                <a:srgbClr val="2E90E8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Capital quality.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DTCs were 36% of CET1 capital at end-2024, the lowest share of the four banks.</a:t>
            </a:r>
          </a:p>
          <a:p>
            <a:pPr marL="182880" indent="-182880">
              <a:spcAft>
                <a:spcPts val="800"/>
              </a:spcAft>
              <a:buClr>
                <a:srgbClr val="2E90E8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Stress test.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Net profit stays at €402m and CET1 moves from 16.8% to 17.6%. Extra cost of risk before a pre-tax loss: 367bp.</a:t>
            </a:r>
          </a:p>
        </p:txBody>
      </p:sp>
      <p:pic>
        <p:nvPicPr>
          <p:cNvPr id="39" name="Eurobank chart" descr="Eurobank: bars show net interest income of 1,480, 2,174 and 2,507 million euro in 2022, 2023 and 2024. The line shows return on equity of 22.1, 15.7 and 17.2 perc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23160"/>
            <a:ext cx="5257800" cy="3245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Alpha Bank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Alpha Services and Holdings S.A.  |  FY2024 snapshot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5 / 12</a:t>
            </a:r>
          </a:p>
        </p:txBody>
      </p:sp>
      <p:sp>
        <p:nvSpPr>
          <p:cNvPr id="6" name="KPI card"/>
          <p:cNvSpPr/>
          <p:nvPr/>
        </p:nvSpPr>
        <p:spPr>
          <a:xfrm>
            <a:off x="32004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accent"/>
          <p:cNvSpPr/>
          <p:nvPr/>
        </p:nvSpPr>
        <p:spPr>
          <a:xfrm>
            <a:off x="320040" y="1188720"/>
            <a:ext cx="1810512" cy="54864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PI label"/>
          <p:cNvSpPr txBox="1"/>
          <p:nvPr/>
        </p:nvSpPr>
        <p:spPr>
          <a:xfrm>
            <a:off x="365759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ROE</a:t>
            </a:r>
          </a:p>
        </p:txBody>
      </p:sp>
      <p:sp>
        <p:nvSpPr>
          <p:cNvPr id="9" name="KPI value"/>
          <p:cNvSpPr txBox="1"/>
          <p:nvPr/>
        </p:nvSpPr>
        <p:spPr>
          <a:xfrm>
            <a:off x="365759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8.5%</a:t>
            </a:r>
          </a:p>
        </p:txBody>
      </p:sp>
      <p:sp>
        <p:nvSpPr>
          <p:cNvPr id="10" name="KPI change"/>
          <p:cNvSpPr txBox="1"/>
          <p:nvPr/>
        </p:nvSpPr>
        <p:spPr>
          <a:xfrm>
            <a:off x="365759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  <a:latin typeface="Calibri"/>
              </a:rPr>
              <a:t>-0.6 pp vs 2023</a:t>
            </a:r>
          </a:p>
        </p:txBody>
      </p:sp>
      <p:sp>
        <p:nvSpPr>
          <p:cNvPr id="11" name="KPI card"/>
          <p:cNvSpPr/>
          <p:nvPr/>
        </p:nvSpPr>
        <p:spPr>
          <a:xfrm>
            <a:off x="2258568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 accent"/>
          <p:cNvSpPr/>
          <p:nvPr/>
        </p:nvSpPr>
        <p:spPr>
          <a:xfrm>
            <a:off x="2258568" y="1188720"/>
            <a:ext cx="1810512" cy="54864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label"/>
          <p:cNvSpPr txBox="1"/>
          <p:nvPr/>
        </p:nvSpPr>
        <p:spPr>
          <a:xfrm>
            <a:off x="2304288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NIM</a:t>
            </a:r>
          </a:p>
        </p:txBody>
      </p:sp>
      <p:sp>
        <p:nvSpPr>
          <p:cNvPr id="14" name="KPI value"/>
          <p:cNvSpPr txBox="1"/>
          <p:nvPr/>
        </p:nvSpPr>
        <p:spPr>
          <a:xfrm>
            <a:off x="2304288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2.28%</a:t>
            </a:r>
          </a:p>
        </p:txBody>
      </p:sp>
      <p:sp>
        <p:nvSpPr>
          <p:cNvPr id="15" name="KPI change"/>
          <p:cNvSpPr txBox="1"/>
          <p:nvPr/>
        </p:nvSpPr>
        <p:spPr>
          <a:xfrm>
            <a:off x="2304288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+0.07 pp vs 2023</a:t>
            </a:r>
          </a:p>
        </p:txBody>
      </p:sp>
      <p:sp>
        <p:nvSpPr>
          <p:cNvPr id="16" name="KPI card"/>
          <p:cNvSpPr/>
          <p:nvPr/>
        </p:nvSpPr>
        <p:spPr>
          <a:xfrm>
            <a:off x="4197096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accent"/>
          <p:cNvSpPr/>
          <p:nvPr/>
        </p:nvSpPr>
        <p:spPr>
          <a:xfrm>
            <a:off x="4197096" y="1188720"/>
            <a:ext cx="1810512" cy="54864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label"/>
          <p:cNvSpPr txBox="1"/>
          <p:nvPr/>
        </p:nvSpPr>
        <p:spPr>
          <a:xfrm>
            <a:off x="4242816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CET1</a:t>
            </a:r>
          </a:p>
        </p:txBody>
      </p:sp>
      <p:sp>
        <p:nvSpPr>
          <p:cNvPr id="19" name="KPI value"/>
          <p:cNvSpPr txBox="1"/>
          <p:nvPr/>
        </p:nvSpPr>
        <p:spPr>
          <a:xfrm>
            <a:off x="4242816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16.3%</a:t>
            </a:r>
          </a:p>
        </p:txBody>
      </p:sp>
      <p:sp>
        <p:nvSpPr>
          <p:cNvPr id="20" name="KPI change"/>
          <p:cNvSpPr txBox="1"/>
          <p:nvPr/>
        </p:nvSpPr>
        <p:spPr>
          <a:xfrm>
            <a:off x="4242816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+1.9 pp vs 2023</a:t>
            </a:r>
          </a:p>
        </p:txBody>
      </p:sp>
      <p:sp>
        <p:nvSpPr>
          <p:cNvPr id="21" name="KPI card"/>
          <p:cNvSpPr/>
          <p:nvPr/>
        </p:nvSpPr>
        <p:spPr>
          <a:xfrm>
            <a:off x="6135624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accent"/>
          <p:cNvSpPr/>
          <p:nvPr/>
        </p:nvSpPr>
        <p:spPr>
          <a:xfrm>
            <a:off x="6135624" y="1188720"/>
            <a:ext cx="1810512" cy="54864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label"/>
          <p:cNvSpPr txBox="1"/>
          <p:nvPr/>
        </p:nvSpPr>
        <p:spPr>
          <a:xfrm>
            <a:off x="6181344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Cost-to-income</a:t>
            </a:r>
          </a:p>
        </p:txBody>
      </p:sp>
      <p:sp>
        <p:nvSpPr>
          <p:cNvPr id="24" name="KPI value"/>
          <p:cNvSpPr txBox="1"/>
          <p:nvPr/>
        </p:nvSpPr>
        <p:spPr>
          <a:xfrm>
            <a:off x="6181344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39.0%</a:t>
            </a:r>
          </a:p>
        </p:txBody>
      </p:sp>
      <p:sp>
        <p:nvSpPr>
          <p:cNvPr id="25" name="KPI change"/>
          <p:cNvSpPr txBox="1"/>
          <p:nvPr/>
        </p:nvSpPr>
        <p:spPr>
          <a:xfrm>
            <a:off x="6181344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  <a:latin typeface="Calibri"/>
              </a:rPr>
              <a:t>+0.7 pp vs 2023</a:t>
            </a:r>
          </a:p>
        </p:txBody>
      </p:sp>
      <p:sp>
        <p:nvSpPr>
          <p:cNvPr id="26" name="KPI card"/>
          <p:cNvSpPr/>
          <p:nvPr/>
        </p:nvSpPr>
        <p:spPr>
          <a:xfrm>
            <a:off x="8074152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accent"/>
          <p:cNvSpPr/>
          <p:nvPr/>
        </p:nvSpPr>
        <p:spPr>
          <a:xfrm>
            <a:off x="8074152" y="1188720"/>
            <a:ext cx="1810512" cy="54864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label"/>
          <p:cNvSpPr txBox="1"/>
          <p:nvPr/>
        </p:nvSpPr>
        <p:spPr>
          <a:xfrm>
            <a:off x="8119872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NPE ratio</a:t>
            </a:r>
          </a:p>
        </p:txBody>
      </p:sp>
      <p:sp>
        <p:nvSpPr>
          <p:cNvPr id="29" name="KPI value"/>
          <p:cNvSpPr txBox="1"/>
          <p:nvPr/>
        </p:nvSpPr>
        <p:spPr>
          <a:xfrm>
            <a:off x="8119872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3.8%</a:t>
            </a:r>
          </a:p>
        </p:txBody>
      </p:sp>
      <p:sp>
        <p:nvSpPr>
          <p:cNvPr id="30" name="KPI change"/>
          <p:cNvSpPr txBox="1"/>
          <p:nvPr/>
        </p:nvSpPr>
        <p:spPr>
          <a:xfrm>
            <a:off x="8119872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-2.2 pp vs 2023</a:t>
            </a:r>
          </a:p>
        </p:txBody>
      </p:sp>
      <p:sp>
        <p:nvSpPr>
          <p:cNvPr id="31" name="KPI card"/>
          <p:cNvSpPr/>
          <p:nvPr/>
        </p:nvSpPr>
        <p:spPr>
          <a:xfrm>
            <a:off x="1001268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accent"/>
          <p:cNvSpPr/>
          <p:nvPr/>
        </p:nvSpPr>
        <p:spPr>
          <a:xfrm>
            <a:off x="10012680" y="1188720"/>
            <a:ext cx="1810512" cy="54864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PI label"/>
          <p:cNvSpPr txBox="1"/>
          <p:nvPr/>
        </p:nvSpPr>
        <p:spPr>
          <a:xfrm>
            <a:off x="10058400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Net profit</a:t>
            </a:r>
          </a:p>
        </p:txBody>
      </p:sp>
      <p:sp>
        <p:nvSpPr>
          <p:cNvPr id="34" name="KPI value"/>
          <p:cNvSpPr txBox="1"/>
          <p:nvPr/>
        </p:nvSpPr>
        <p:spPr>
          <a:xfrm>
            <a:off x="10058400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€654m</a:t>
            </a:r>
          </a:p>
        </p:txBody>
      </p:sp>
      <p:sp>
        <p:nvSpPr>
          <p:cNvPr id="35" name="KPI change"/>
          <p:cNvSpPr txBox="1"/>
          <p:nvPr/>
        </p:nvSpPr>
        <p:spPr>
          <a:xfrm>
            <a:off x="10058400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+5.8% vs 2023</a:t>
            </a:r>
          </a:p>
        </p:txBody>
      </p:sp>
      <p:sp>
        <p:nvSpPr>
          <p:cNvPr id="36" name="Points title"/>
          <p:cNvSpPr txBox="1"/>
          <p:nvPr/>
        </p:nvSpPr>
        <p:spPr>
          <a:xfrm>
            <a:off x="320040" y="2468880"/>
            <a:ext cx="603504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What the numbers show</a:t>
            </a:r>
          </a:p>
        </p:txBody>
      </p:sp>
      <p:sp>
        <p:nvSpPr>
          <p:cNvPr id="37" name="Points rule"/>
          <p:cNvSpPr/>
          <p:nvPr/>
        </p:nvSpPr>
        <p:spPr>
          <a:xfrm>
            <a:off x="320040" y="2807208"/>
            <a:ext cx="6035040" cy="27432"/>
          </a:xfrm>
          <a:prstGeom prst="rect">
            <a:avLst/>
          </a:prstGeom>
          <a:solidFill>
            <a:srgbClr val="F0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ints"/>
          <p:cNvSpPr txBox="1"/>
          <p:nvPr/>
        </p:nvSpPr>
        <p:spPr>
          <a:xfrm>
            <a:off x="320040" y="2926080"/>
            <a:ext cx="6035040" cy="35204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F05448"/>
              </a:buClr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Returns.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Lowest ROE (8.5%) and RoTE (9.7%) of the four banks in 2024.</a:t>
            </a:r>
          </a:p>
          <a:p>
            <a:pPr marL="182880" indent="-182880">
              <a:spcAft>
                <a:spcPts val="800"/>
              </a:spcAft>
              <a:buClr>
                <a:srgbClr val="F05448"/>
              </a:buClr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NII.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Fell 0.8% in 2024 after rising 41.3% in 2023. The volume effect took €65m off NII.</a:t>
            </a:r>
          </a:p>
          <a:p>
            <a:pPr marL="182880" indent="-182880">
              <a:spcAft>
                <a:spcPts val="800"/>
              </a:spcAft>
              <a:buClr>
                <a:srgbClr val="F05448"/>
              </a:buClr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Asset quality and costs.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NPE ratio fell from 7.8% (2022) to 3.8% (2024), still the highest of the four. Cost-to-income (39.0%) and cost of risk (0.96%) are the highest too.</a:t>
            </a:r>
          </a:p>
          <a:p>
            <a:pPr marL="182880" indent="-182880">
              <a:spcAft>
                <a:spcPts val="800"/>
              </a:spcAft>
              <a:buClr>
                <a:srgbClr val="F05448"/>
              </a:buClr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Funding.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The only bank still funded by the ECB at end-2024 (€2.6bn).</a:t>
            </a:r>
          </a:p>
          <a:p>
            <a:pPr marL="182880" indent="-182880">
              <a:spcAft>
                <a:spcPts val="800"/>
              </a:spcAft>
              <a:buClr>
                <a:srgbClr val="F05448"/>
              </a:buClr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Stress test.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It is the only bank with a loss, of €118m, and CET1 moves from 16.3% to 15.9%. Extra cost of risk before a pre-tax loss: 209bp, the least of the four banks.</a:t>
            </a:r>
          </a:p>
          <a:p>
            <a:pPr marL="182880" indent="-182880">
              <a:spcAft>
                <a:spcPts val="800"/>
              </a:spcAft>
              <a:buClr>
                <a:srgbClr val="F05448"/>
              </a:buClr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EBA 2023.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In the official adverse scenario fully loaded CET1 fell from 11.9% (Dec 2022) to 8.9% (end-2025), the largest fall of the four.</a:t>
            </a:r>
          </a:p>
        </p:txBody>
      </p:sp>
      <p:pic>
        <p:nvPicPr>
          <p:cNvPr id="39" name="Alpha Bank chart" descr="Alpha Bank: bars show net interest income of 1,174, 1,659 and 1,645 million euro in 2022, 2023 and 2024. The line shows return on equity of 6.0, 9.1 and 8.5 perc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23160"/>
            <a:ext cx="5257800" cy="32454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Calibri"/>
              </a:rPr>
              <a:t>Piraeus Bank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Calibri"/>
              </a:rPr>
              <a:t>Piraeus Financial Holdings S.A.  |  FY2024 snapshot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6 / 12</a:t>
            </a:r>
          </a:p>
        </p:txBody>
      </p:sp>
      <p:sp>
        <p:nvSpPr>
          <p:cNvPr id="6" name="KPI card"/>
          <p:cNvSpPr/>
          <p:nvPr/>
        </p:nvSpPr>
        <p:spPr>
          <a:xfrm>
            <a:off x="32004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accent"/>
          <p:cNvSpPr/>
          <p:nvPr/>
        </p:nvSpPr>
        <p:spPr>
          <a:xfrm>
            <a:off x="320040" y="1188720"/>
            <a:ext cx="1810512" cy="54864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PI label"/>
          <p:cNvSpPr txBox="1"/>
          <p:nvPr/>
        </p:nvSpPr>
        <p:spPr>
          <a:xfrm>
            <a:off x="365759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ROE</a:t>
            </a:r>
          </a:p>
        </p:txBody>
      </p:sp>
      <p:sp>
        <p:nvSpPr>
          <p:cNvPr id="9" name="KPI value"/>
          <p:cNvSpPr txBox="1"/>
          <p:nvPr/>
        </p:nvSpPr>
        <p:spPr>
          <a:xfrm>
            <a:off x="365759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13.7%</a:t>
            </a:r>
          </a:p>
        </p:txBody>
      </p:sp>
      <p:sp>
        <p:nvSpPr>
          <p:cNvPr id="10" name="KPI change"/>
          <p:cNvSpPr txBox="1"/>
          <p:nvPr/>
        </p:nvSpPr>
        <p:spPr>
          <a:xfrm>
            <a:off x="365759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+2.3 pp vs 2023</a:t>
            </a:r>
          </a:p>
        </p:txBody>
      </p:sp>
      <p:sp>
        <p:nvSpPr>
          <p:cNvPr id="11" name="KPI card"/>
          <p:cNvSpPr/>
          <p:nvPr/>
        </p:nvSpPr>
        <p:spPr>
          <a:xfrm>
            <a:off x="2258568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 accent"/>
          <p:cNvSpPr/>
          <p:nvPr/>
        </p:nvSpPr>
        <p:spPr>
          <a:xfrm>
            <a:off x="2258568" y="1188720"/>
            <a:ext cx="1810512" cy="54864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label"/>
          <p:cNvSpPr txBox="1"/>
          <p:nvPr/>
        </p:nvSpPr>
        <p:spPr>
          <a:xfrm>
            <a:off x="2304288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NIM</a:t>
            </a:r>
          </a:p>
        </p:txBody>
      </p:sp>
      <p:sp>
        <p:nvSpPr>
          <p:cNvPr id="14" name="KPI value"/>
          <p:cNvSpPr txBox="1"/>
          <p:nvPr/>
        </p:nvSpPr>
        <p:spPr>
          <a:xfrm>
            <a:off x="2304288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2.67%</a:t>
            </a:r>
          </a:p>
        </p:txBody>
      </p:sp>
      <p:sp>
        <p:nvSpPr>
          <p:cNvPr id="15" name="KPI change"/>
          <p:cNvSpPr txBox="1"/>
          <p:nvPr/>
        </p:nvSpPr>
        <p:spPr>
          <a:xfrm>
            <a:off x="2304288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+0.02 pp vs 2023</a:t>
            </a:r>
          </a:p>
        </p:txBody>
      </p:sp>
      <p:sp>
        <p:nvSpPr>
          <p:cNvPr id="16" name="KPI card"/>
          <p:cNvSpPr/>
          <p:nvPr/>
        </p:nvSpPr>
        <p:spPr>
          <a:xfrm>
            <a:off x="4197096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accent"/>
          <p:cNvSpPr/>
          <p:nvPr/>
        </p:nvSpPr>
        <p:spPr>
          <a:xfrm>
            <a:off x="4197096" y="1188720"/>
            <a:ext cx="1810512" cy="54864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label"/>
          <p:cNvSpPr txBox="1"/>
          <p:nvPr/>
        </p:nvSpPr>
        <p:spPr>
          <a:xfrm>
            <a:off x="4242816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CET1</a:t>
            </a:r>
          </a:p>
        </p:txBody>
      </p:sp>
      <p:sp>
        <p:nvSpPr>
          <p:cNvPr id="19" name="KPI value"/>
          <p:cNvSpPr txBox="1"/>
          <p:nvPr/>
        </p:nvSpPr>
        <p:spPr>
          <a:xfrm>
            <a:off x="4242816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14.5%</a:t>
            </a:r>
          </a:p>
        </p:txBody>
      </p:sp>
      <p:sp>
        <p:nvSpPr>
          <p:cNvPr id="20" name="KPI change"/>
          <p:cNvSpPr txBox="1"/>
          <p:nvPr/>
        </p:nvSpPr>
        <p:spPr>
          <a:xfrm>
            <a:off x="4242816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+1.3 pp vs 2023</a:t>
            </a:r>
          </a:p>
        </p:txBody>
      </p:sp>
      <p:sp>
        <p:nvSpPr>
          <p:cNvPr id="21" name="KPI card"/>
          <p:cNvSpPr/>
          <p:nvPr/>
        </p:nvSpPr>
        <p:spPr>
          <a:xfrm>
            <a:off x="6135624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accent"/>
          <p:cNvSpPr/>
          <p:nvPr/>
        </p:nvSpPr>
        <p:spPr>
          <a:xfrm>
            <a:off x="6135624" y="1188720"/>
            <a:ext cx="1810512" cy="54864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label"/>
          <p:cNvSpPr txBox="1"/>
          <p:nvPr/>
        </p:nvSpPr>
        <p:spPr>
          <a:xfrm>
            <a:off x="6181344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Cost-to-income</a:t>
            </a:r>
          </a:p>
        </p:txBody>
      </p:sp>
      <p:sp>
        <p:nvSpPr>
          <p:cNvPr id="24" name="KPI value"/>
          <p:cNvSpPr txBox="1"/>
          <p:nvPr/>
        </p:nvSpPr>
        <p:spPr>
          <a:xfrm>
            <a:off x="6181344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31.8%</a:t>
            </a:r>
          </a:p>
        </p:txBody>
      </p:sp>
      <p:sp>
        <p:nvSpPr>
          <p:cNvPr id="25" name="KPI change"/>
          <p:cNvSpPr txBox="1"/>
          <p:nvPr/>
        </p:nvSpPr>
        <p:spPr>
          <a:xfrm>
            <a:off x="6181344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-1.3 pp vs 2023</a:t>
            </a:r>
          </a:p>
        </p:txBody>
      </p:sp>
      <p:sp>
        <p:nvSpPr>
          <p:cNvPr id="26" name="KPI card"/>
          <p:cNvSpPr/>
          <p:nvPr/>
        </p:nvSpPr>
        <p:spPr>
          <a:xfrm>
            <a:off x="8074152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accent"/>
          <p:cNvSpPr/>
          <p:nvPr/>
        </p:nvSpPr>
        <p:spPr>
          <a:xfrm>
            <a:off x="8074152" y="1188720"/>
            <a:ext cx="1810512" cy="54864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label"/>
          <p:cNvSpPr txBox="1"/>
          <p:nvPr/>
        </p:nvSpPr>
        <p:spPr>
          <a:xfrm>
            <a:off x="8119872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NPE ratio</a:t>
            </a:r>
          </a:p>
        </p:txBody>
      </p:sp>
      <p:sp>
        <p:nvSpPr>
          <p:cNvPr id="29" name="KPI value"/>
          <p:cNvSpPr txBox="1"/>
          <p:nvPr/>
        </p:nvSpPr>
        <p:spPr>
          <a:xfrm>
            <a:off x="8119872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2.6%</a:t>
            </a:r>
          </a:p>
        </p:txBody>
      </p:sp>
      <p:sp>
        <p:nvSpPr>
          <p:cNvPr id="30" name="KPI change"/>
          <p:cNvSpPr txBox="1"/>
          <p:nvPr/>
        </p:nvSpPr>
        <p:spPr>
          <a:xfrm>
            <a:off x="8119872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-0.9 pp vs 2023</a:t>
            </a:r>
          </a:p>
        </p:txBody>
      </p:sp>
      <p:sp>
        <p:nvSpPr>
          <p:cNvPr id="31" name="KPI card"/>
          <p:cNvSpPr/>
          <p:nvPr/>
        </p:nvSpPr>
        <p:spPr>
          <a:xfrm>
            <a:off x="1001268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accent"/>
          <p:cNvSpPr/>
          <p:nvPr/>
        </p:nvSpPr>
        <p:spPr>
          <a:xfrm>
            <a:off x="10012680" y="1188720"/>
            <a:ext cx="1810512" cy="54864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PI label"/>
          <p:cNvSpPr txBox="1"/>
          <p:nvPr/>
        </p:nvSpPr>
        <p:spPr>
          <a:xfrm>
            <a:off x="10058400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Net profit</a:t>
            </a:r>
          </a:p>
        </p:txBody>
      </p:sp>
      <p:sp>
        <p:nvSpPr>
          <p:cNvPr id="34" name="KPI value"/>
          <p:cNvSpPr txBox="1"/>
          <p:nvPr/>
        </p:nvSpPr>
        <p:spPr>
          <a:xfrm>
            <a:off x="10058400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€1,066m</a:t>
            </a:r>
          </a:p>
        </p:txBody>
      </p:sp>
      <p:sp>
        <p:nvSpPr>
          <p:cNvPr id="35" name="KPI change"/>
          <p:cNvSpPr txBox="1"/>
          <p:nvPr/>
        </p:nvSpPr>
        <p:spPr>
          <a:xfrm>
            <a:off x="10058400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+35.3% vs 2023</a:t>
            </a:r>
          </a:p>
        </p:txBody>
      </p:sp>
      <p:sp>
        <p:nvSpPr>
          <p:cNvPr id="36" name="Points title"/>
          <p:cNvSpPr txBox="1"/>
          <p:nvPr/>
        </p:nvSpPr>
        <p:spPr>
          <a:xfrm>
            <a:off x="320040" y="2468880"/>
            <a:ext cx="603504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What the numbers show</a:t>
            </a:r>
          </a:p>
        </p:txBody>
      </p:sp>
      <p:sp>
        <p:nvSpPr>
          <p:cNvPr id="37" name="Points rule"/>
          <p:cNvSpPr/>
          <p:nvPr/>
        </p:nvSpPr>
        <p:spPr>
          <a:xfrm>
            <a:off x="320040" y="2807208"/>
            <a:ext cx="603504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ints"/>
          <p:cNvSpPr txBox="1"/>
          <p:nvPr/>
        </p:nvSpPr>
        <p:spPr>
          <a:xfrm>
            <a:off x="320040" y="2926080"/>
            <a:ext cx="6035040" cy="35204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F7A600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Efficiency.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Lowest cost-to-income (31.8%) and lowest cost of risk (0.46%) of the four banks in 2024.</a:t>
            </a:r>
          </a:p>
          <a:p>
            <a:pPr marL="182880" indent="-182880">
              <a:spcAft>
                <a:spcPts val="800"/>
              </a:spcAft>
              <a:buClr>
                <a:srgbClr val="F7A600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Profit.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Net profit rose 35.3% to €1,066m, while NII grew only 4.2%. Loan impairments fell to €181m from €404m.</a:t>
            </a:r>
          </a:p>
          <a:p>
            <a:pPr marL="182880" indent="-182880">
              <a:spcAft>
                <a:spcPts val="800"/>
              </a:spcAft>
              <a:buClr>
                <a:srgbClr val="F7A600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Capital quality.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DTCs were 63% of CET1 capital at end-2024, the highest share of the four banks. CET1 ratio of 14.5% is the lowest of the four.</a:t>
            </a:r>
          </a:p>
          <a:p>
            <a:pPr marL="182880" indent="-182880">
              <a:spcAft>
                <a:spcPts val="800"/>
              </a:spcAft>
              <a:buClr>
                <a:srgbClr val="F7A600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Stress test.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Net profit stays at €217m and CET1 moves from 14.5% to 15.1%. Extra cost of risk before a pre-tax loss: 353bp.</a:t>
            </a:r>
          </a:p>
        </p:txBody>
      </p:sp>
      <p:pic>
        <p:nvPicPr>
          <p:cNvPr id="39" name="Piraeus Bank chart" descr="Piraeus Bank: bars show net interest income of 1,353, 2,003 and 2,088 million euro in 2022, 2023 and 2024. The line shows return on equity of 15.4, 11.4 and 13.7 perc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23160"/>
            <a:ext cx="5257800" cy="32454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NBG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National Bank of Greece S.A.  |  FY2024 snapshot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7 / 12</a:t>
            </a:r>
          </a:p>
        </p:txBody>
      </p:sp>
      <p:sp>
        <p:nvSpPr>
          <p:cNvPr id="6" name="KPI card"/>
          <p:cNvSpPr/>
          <p:nvPr/>
        </p:nvSpPr>
        <p:spPr>
          <a:xfrm>
            <a:off x="32004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accent"/>
          <p:cNvSpPr/>
          <p:nvPr/>
        </p:nvSpPr>
        <p:spPr>
          <a:xfrm>
            <a:off x="320040" y="1188720"/>
            <a:ext cx="1810512" cy="54864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PI label"/>
          <p:cNvSpPr txBox="1"/>
          <p:nvPr/>
        </p:nvSpPr>
        <p:spPr>
          <a:xfrm>
            <a:off x="365759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ROE</a:t>
            </a:r>
          </a:p>
        </p:txBody>
      </p:sp>
      <p:sp>
        <p:nvSpPr>
          <p:cNvPr id="9" name="KPI value"/>
          <p:cNvSpPr txBox="1"/>
          <p:nvPr/>
        </p:nvSpPr>
        <p:spPr>
          <a:xfrm>
            <a:off x="365759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14.4%</a:t>
            </a:r>
          </a:p>
        </p:txBody>
      </p:sp>
      <p:sp>
        <p:nvSpPr>
          <p:cNvPr id="10" name="KPI change"/>
          <p:cNvSpPr txBox="1"/>
          <p:nvPr/>
        </p:nvSpPr>
        <p:spPr>
          <a:xfrm>
            <a:off x="365759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  <a:latin typeface="Calibri"/>
              </a:rPr>
              <a:t>-1.3 pp vs 2023</a:t>
            </a:r>
          </a:p>
        </p:txBody>
      </p:sp>
      <p:sp>
        <p:nvSpPr>
          <p:cNvPr id="11" name="KPI card"/>
          <p:cNvSpPr/>
          <p:nvPr/>
        </p:nvSpPr>
        <p:spPr>
          <a:xfrm>
            <a:off x="2258568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 accent"/>
          <p:cNvSpPr/>
          <p:nvPr/>
        </p:nvSpPr>
        <p:spPr>
          <a:xfrm>
            <a:off x="2258568" y="1188720"/>
            <a:ext cx="1810512" cy="54864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label"/>
          <p:cNvSpPr txBox="1"/>
          <p:nvPr/>
        </p:nvSpPr>
        <p:spPr>
          <a:xfrm>
            <a:off x="2304288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NIM</a:t>
            </a:r>
          </a:p>
        </p:txBody>
      </p:sp>
      <p:sp>
        <p:nvSpPr>
          <p:cNvPr id="14" name="KPI value"/>
          <p:cNvSpPr txBox="1"/>
          <p:nvPr/>
        </p:nvSpPr>
        <p:spPr>
          <a:xfrm>
            <a:off x="2304288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3.15%</a:t>
            </a:r>
          </a:p>
        </p:txBody>
      </p:sp>
      <p:sp>
        <p:nvSpPr>
          <p:cNvPr id="15" name="KPI change"/>
          <p:cNvSpPr txBox="1"/>
          <p:nvPr/>
        </p:nvSpPr>
        <p:spPr>
          <a:xfrm>
            <a:off x="2304288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+0.19 pp vs 2023</a:t>
            </a:r>
          </a:p>
        </p:txBody>
      </p:sp>
      <p:sp>
        <p:nvSpPr>
          <p:cNvPr id="16" name="KPI card"/>
          <p:cNvSpPr/>
          <p:nvPr/>
        </p:nvSpPr>
        <p:spPr>
          <a:xfrm>
            <a:off x="4197096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accent"/>
          <p:cNvSpPr/>
          <p:nvPr/>
        </p:nvSpPr>
        <p:spPr>
          <a:xfrm>
            <a:off x="4197096" y="1188720"/>
            <a:ext cx="1810512" cy="54864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label"/>
          <p:cNvSpPr txBox="1"/>
          <p:nvPr/>
        </p:nvSpPr>
        <p:spPr>
          <a:xfrm>
            <a:off x="4242816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CET1</a:t>
            </a:r>
          </a:p>
        </p:txBody>
      </p:sp>
      <p:sp>
        <p:nvSpPr>
          <p:cNvPr id="19" name="KPI value"/>
          <p:cNvSpPr txBox="1"/>
          <p:nvPr/>
        </p:nvSpPr>
        <p:spPr>
          <a:xfrm>
            <a:off x="4242816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18.3%</a:t>
            </a:r>
          </a:p>
        </p:txBody>
      </p:sp>
      <p:sp>
        <p:nvSpPr>
          <p:cNvPr id="20" name="KPI change"/>
          <p:cNvSpPr txBox="1"/>
          <p:nvPr/>
        </p:nvSpPr>
        <p:spPr>
          <a:xfrm>
            <a:off x="4242816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+0.5 pp vs 2023</a:t>
            </a:r>
          </a:p>
        </p:txBody>
      </p:sp>
      <p:sp>
        <p:nvSpPr>
          <p:cNvPr id="21" name="KPI card"/>
          <p:cNvSpPr/>
          <p:nvPr/>
        </p:nvSpPr>
        <p:spPr>
          <a:xfrm>
            <a:off x="6135624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accent"/>
          <p:cNvSpPr/>
          <p:nvPr/>
        </p:nvSpPr>
        <p:spPr>
          <a:xfrm>
            <a:off x="6135624" y="1188720"/>
            <a:ext cx="1810512" cy="54864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label"/>
          <p:cNvSpPr txBox="1"/>
          <p:nvPr/>
        </p:nvSpPr>
        <p:spPr>
          <a:xfrm>
            <a:off x="6181344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Cost-to-income</a:t>
            </a:r>
          </a:p>
        </p:txBody>
      </p:sp>
      <p:sp>
        <p:nvSpPr>
          <p:cNvPr id="24" name="KPI value"/>
          <p:cNvSpPr txBox="1"/>
          <p:nvPr/>
        </p:nvSpPr>
        <p:spPr>
          <a:xfrm>
            <a:off x="6181344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36.5%</a:t>
            </a:r>
          </a:p>
        </p:txBody>
      </p:sp>
      <p:sp>
        <p:nvSpPr>
          <p:cNvPr id="25" name="KPI change"/>
          <p:cNvSpPr txBox="1"/>
          <p:nvPr/>
        </p:nvSpPr>
        <p:spPr>
          <a:xfrm>
            <a:off x="6181344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  <a:latin typeface="Calibri"/>
              </a:rPr>
              <a:t>+2.9 pp vs 2023</a:t>
            </a:r>
          </a:p>
        </p:txBody>
      </p:sp>
      <p:sp>
        <p:nvSpPr>
          <p:cNvPr id="26" name="KPI card"/>
          <p:cNvSpPr/>
          <p:nvPr/>
        </p:nvSpPr>
        <p:spPr>
          <a:xfrm>
            <a:off x="8074152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accent"/>
          <p:cNvSpPr/>
          <p:nvPr/>
        </p:nvSpPr>
        <p:spPr>
          <a:xfrm>
            <a:off x="8074152" y="1188720"/>
            <a:ext cx="1810512" cy="54864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label"/>
          <p:cNvSpPr txBox="1"/>
          <p:nvPr/>
        </p:nvSpPr>
        <p:spPr>
          <a:xfrm>
            <a:off x="8119872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NPE ratio</a:t>
            </a:r>
          </a:p>
        </p:txBody>
      </p:sp>
      <p:sp>
        <p:nvSpPr>
          <p:cNvPr id="29" name="KPI value"/>
          <p:cNvSpPr txBox="1"/>
          <p:nvPr/>
        </p:nvSpPr>
        <p:spPr>
          <a:xfrm>
            <a:off x="8119872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2.6%</a:t>
            </a:r>
          </a:p>
        </p:txBody>
      </p:sp>
      <p:sp>
        <p:nvSpPr>
          <p:cNvPr id="30" name="KPI change"/>
          <p:cNvSpPr txBox="1"/>
          <p:nvPr/>
        </p:nvSpPr>
        <p:spPr>
          <a:xfrm>
            <a:off x="8119872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-1.1 pp vs 2023</a:t>
            </a:r>
          </a:p>
        </p:txBody>
      </p:sp>
      <p:sp>
        <p:nvSpPr>
          <p:cNvPr id="31" name="KPI card"/>
          <p:cNvSpPr/>
          <p:nvPr/>
        </p:nvSpPr>
        <p:spPr>
          <a:xfrm>
            <a:off x="10012680" y="1188720"/>
            <a:ext cx="1810512" cy="10515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accent"/>
          <p:cNvSpPr/>
          <p:nvPr/>
        </p:nvSpPr>
        <p:spPr>
          <a:xfrm>
            <a:off x="10012680" y="1188720"/>
            <a:ext cx="1810512" cy="54864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PI label"/>
          <p:cNvSpPr txBox="1"/>
          <p:nvPr/>
        </p:nvSpPr>
        <p:spPr>
          <a:xfrm>
            <a:off x="10058400" y="1261872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A6B2C4"/>
                </a:solidFill>
                <a:latin typeface="Calibri"/>
              </a:rPr>
              <a:t>Net profit</a:t>
            </a:r>
          </a:p>
        </p:txBody>
      </p:sp>
      <p:sp>
        <p:nvSpPr>
          <p:cNvPr id="34" name="KPI value"/>
          <p:cNvSpPr txBox="1"/>
          <p:nvPr/>
        </p:nvSpPr>
        <p:spPr>
          <a:xfrm>
            <a:off x="10058400" y="1499616"/>
            <a:ext cx="1719072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  <a:latin typeface="Calibri"/>
              </a:rPr>
              <a:t>€1,158m</a:t>
            </a:r>
          </a:p>
        </p:txBody>
      </p:sp>
      <p:sp>
        <p:nvSpPr>
          <p:cNvPr id="35" name="KPI change"/>
          <p:cNvSpPr txBox="1"/>
          <p:nvPr/>
        </p:nvSpPr>
        <p:spPr>
          <a:xfrm>
            <a:off x="10058400" y="1920240"/>
            <a:ext cx="1719072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+4.7% vs 2023</a:t>
            </a:r>
          </a:p>
        </p:txBody>
      </p:sp>
      <p:sp>
        <p:nvSpPr>
          <p:cNvPr id="36" name="Points title"/>
          <p:cNvSpPr txBox="1"/>
          <p:nvPr/>
        </p:nvSpPr>
        <p:spPr>
          <a:xfrm>
            <a:off x="320040" y="2468880"/>
            <a:ext cx="6035040" cy="320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What the numbers show</a:t>
            </a:r>
          </a:p>
        </p:txBody>
      </p:sp>
      <p:sp>
        <p:nvSpPr>
          <p:cNvPr id="37" name="Points rule"/>
          <p:cNvSpPr/>
          <p:nvPr/>
        </p:nvSpPr>
        <p:spPr>
          <a:xfrm>
            <a:off x="320040" y="2807208"/>
            <a:ext cx="6035040" cy="27432"/>
          </a:xfrm>
          <a:prstGeom prst="rect">
            <a:avLst/>
          </a:prstGeom>
          <a:solidFill>
            <a:srgbClr val="96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ints"/>
          <p:cNvSpPr txBox="1"/>
          <p:nvPr/>
        </p:nvSpPr>
        <p:spPr>
          <a:xfrm>
            <a:off x="320040" y="2926080"/>
            <a:ext cx="6035040" cy="35204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96A0FF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Margin and capital.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Highest NIM (3.15%) and highest CET1 ratio (18.3%) of the four banks in 2024.</a:t>
            </a:r>
          </a:p>
          <a:p>
            <a:pPr marL="182880" indent="-182880">
              <a:spcAft>
                <a:spcPts val="800"/>
              </a:spcAft>
              <a:buClr>
                <a:srgbClr val="96A0FF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Asset quality and liquidity.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NPE ratio of 2.6%, level with Piraeus. Loan-to-deposit ratio of 62.7%, the lowest of the four.</a:t>
            </a:r>
          </a:p>
          <a:p>
            <a:pPr marL="182880" indent="-182880">
              <a:spcAft>
                <a:spcPts val="800"/>
              </a:spcAft>
              <a:buClr>
                <a:srgbClr val="96A0FF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Rough guide to 2026.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In the base case NII falls 19.3% from 2024 to €1,902m, the largest fall of the four. This is not a forecast.</a:t>
            </a:r>
          </a:p>
          <a:p>
            <a:pPr marL="182880" indent="-182880">
              <a:spcAft>
                <a:spcPts val="800"/>
              </a:spcAft>
              <a:buClr>
                <a:srgbClr val="96A0FF"/>
              </a:buClr>
              <a:buFont typeface="Arial"/>
              <a:buChar char="•"/>
            </a:pPr>
            <a:r>
              <a:rPr sz="1400" b="1" i="0">
                <a:solidFill>
                  <a:srgbClr val="F1F5F9"/>
                </a:solidFill>
                <a:latin typeface="Calibri"/>
              </a:rPr>
              <a:t>Stress test.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Net profit stays at €371m and CET1 moves from 18.3% to 19.3%. Extra cost of risk before a pre-tax loss: 420bp, the most of the four banks.</a:t>
            </a:r>
          </a:p>
        </p:txBody>
      </p:sp>
      <p:pic>
        <p:nvPicPr>
          <p:cNvPr id="39" name="NBG chart" descr="NBG: bars show net interest income of 1,369, 2,263 and 2,356 million euro in 2022, 2023 and 2024. The line shows return on equity of 18.4, 15.7 and 14.4 perc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23160"/>
            <a:ext cx="5257800" cy="3245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Peer Rankings: FY2024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Green outline = best of the four. Lower is better for cost-to-income and the NPE ratio.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8 / 12</a:t>
            </a:r>
          </a:p>
        </p:txBody>
      </p:sp>
      <p:pic>
        <p:nvPicPr>
          <p:cNvPr id="6" name="Peer rankings" descr="Six bar charts of FY2024 values per bank, best on top: ROE: Eurobank; NIM: NBG; CET1 ratio: NBG; Cost-to-income: Piraeus Bank; NPE ratio: Piraeus Bank and NBG; Net profit: Euroban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48530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NII: Rate vs Volume, and a Rough Guide to 2026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Sector NII walk 2022 to 2024 and a base case for 2026. €m. A rough guide, not a forecast.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9 / 12</a:t>
            </a:r>
          </a:p>
        </p:txBody>
      </p:sp>
      <p:pic>
        <p:nvPicPr>
          <p:cNvPr id="6" name="NII walk and 2026 base case" descr="Left: waterfall of sector net interest income from 5,376 in 2022 to 8,099 in 2023 and 8,596 in 2024, split into rate, volume and mix effects. Right: net interest income per bank in 2024 and in the 2026 base case, with the percentage chang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3743194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320040" y="4937760"/>
            <a:ext cx="11521440" cy="1508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F1F5F9"/>
                </a:solidFill>
                <a:latin typeface="Calibri"/>
              </a:rPr>
              <a:t>2022 to 2023. </a:t>
            </a:r>
            <a:r>
              <a:rPr sz="1150" b="0" i="0">
                <a:solidFill>
                  <a:srgbClr val="A6B2C4"/>
                </a:solidFill>
                <a:latin typeface="Calibri"/>
              </a:rPr>
              <a:t>Wider margins (rate effect €2,891m) drove NII up by €2,723m. Volume and mix took a little back.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F1F5F9"/>
                </a:solidFill>
                <a:latin typeface="Calibri"/>
              </a:rPr>
              <a:t>2023 to 2024. </a:t>
            </a:r>
            <a:r>
              <a:rPr sz="1150" b="0" i="0">
                <a:solidFill>
                  <a:srgbClr val="A6B2C4"/>
                </a:solidFill>
                <a:latin typeface="Calibri"/>
              </a:rPr>
              <a:t>NII rose by €497m: rate €270m and volume €225m. Eurobank's volume effect was €265m, after it consolidated Hellenic Bank from 30 June 2024. Rounded effects can differ from the total by €1m.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F1F5F9"/>
                </a:solidFill>
                <a:latin typeface="Calibri"/>
              </a:rPr>
              <a:t>2026 base case. </a:t>
            </a:r>
            <a:r>
              <a:rPr sz="1150" b="0" i="0">
                <a:solidFill>
                  <a:srgbClr val="A6B2C4"/>
                </a:solidFill>
                <a:latin typeface="Calibri"/>
              </a:rPr>
              <a:t>Sector NII of €7,593m, 11.7% below 2024. The percentage under each bank is its change from 2024. NIM moves with the ECB yearly average deposit rate (gradual cuts) and total assets grow 2% a year. The rate sensitivity of each bank rests on three yearly points, so this is directional only. Banks may not add up to the sector total because of rounding.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One-Year Stress Test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FY2024 base. Cost of risk up 200bp, loans down 15%, NIM down 50bp. Directional only.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10 / 12</a:t>
            </a:r>
          </a:p>
        </p:txBody>
      </p:sp>
      <p:pic>
        <p:nvPicPr>
          <p:cNvPr id="6" name="Stress test charts" descr="Left: net profit per bank in FY2024 and in the stress case. Alpha Bank turns to a loss of 118 million euro, the other three stay profitable. Right: CET1 ratio per bank at end-2024 and at the end of the stress yea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5" y="1097280"/>
            <a:ext cx="11234389" cy="3017520"/>
          </a:xfrm>
          <a:prstGeom prst="rect">
            <a:avLst/>
          </a:prstGeom>
        </p:spPr>
      </p:pic>
      <p:graphicFrame>
        <p:nvGraphicFramePr>
          <p:cNvPr id="7" name="Stress and EBA table" descr="Table per bank: extra cost of risk the bank can absorb before a pre-tax loss in the one-year test, and the official EBA 2023 stress test result for fully loaded CET1."/>
          <p:cNvGraphicFramePr>
            <a:graphicFrameLocks noGrp="1"/>
          </p:cNvGraphicFramePr>
          <p:nvPr/>
        </p:nvGraphicFramePr>
        <p:xfrm>
          <a:off x="320040" y="4206240"/>
          <a:ext cx="11521440" cy="155448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3291840"/>
                <a:gridCol w="2103120"/>
                <a:gridCol w="2377440"/>
                <a:gridCol w="17373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1F5F9"/>
                          </a:solidFill>
                          <a:latin typeface="Calibri"/>
                        </a:rPr>
                        <a:t>Bank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1F5F9"/>
                          </a:solidFill>
                          <a:latin typeface="Calibri"/>
                        </a:rPr>
                        <a:t>Extra cost of risk before a pre-tax loss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1F5F9"/>
                          </a:solidFill>
                          <a:latin typeface="Calibri"/>
                        </a:rPr>
                        <a:t>EBA 2023: Dec 2022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1F5F9"/>
                          </a:solidFill>
                          <a:latin typeface="Calibri"/>
                        </a:rPr>
                        <a:t>EBA 2023: adverse end-2025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1F5F9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90E8"/>
                          </a:solidFill>
                          <a:latin typeface="Calibri"/>
                        </a:rPr>
                        <a:t>Eurobank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367bp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14.4%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12.2%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-2.2 pp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05448"/>
                          </a:solidFill>
                          <a:latin typeface="Calibri"/>
                        </a:rPr>
                        <a:t>Alpha Bank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209bp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11.9%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8.9%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-3.0 pp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7A600"/>
                          </a:solidFill>
                          <a:latin typeface="Calibri"/>
                        </a:rPr>
                        <a:t>Piraeus Bank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353bp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-2.4 pp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96A0FF"/>
                          </a:solidFill>
                          <a:latin typeface="Calibri"/>
                        </a:rPr>
                        <a:t>NBG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420bp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15.9%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1F5F9"/>
                          </a:solidFill>
                          <a:latin typeface="Calibri"/>
                        </a:rPr>
                        <a:t>-1.4 pp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</a:tr>
            </a:tbl>
          </a:graphicData>
        </a:graphic>
      </p:graphicFrame>
      <p:sp>
        <p:nvSpPr>
          <p:cNvPr id="8" name="Stress note"/>
          <p:cNvSpPr txBox="1"/>
          <p:nvPr/>
        </p:nvSpPr>
        <p:spPr>
          <a:xfrm>
            <a:off x="320040" y="5806440"/>
            <a:ext cx="11521440" cy="6400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050" b="0" i="0">
                <a:solidFill>
                  <a:srgbClr val="A6B2C4"/>
                </a:solidFill>
                <a:latin typeface="Calibri"/>
              </a:rPr>
              <a:t>Costs flat, 29% tax on the change in profit, no dividends, RWAs unchanged. Stressed CET1 = (reported CET1 capital + stressed profit) / RWAs, so a bank that stays profitable ends the year with more CET1 because no dividend is paid. The EBA 2023 test is a three-year scenario on the 31.12.2022 balance sheet and cannot be compared with the simplified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Valuation Framework: Justified P/TBV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Justified P/TBV = (RoTE - g) / (CoE - g), with CoE 10% and g 2% as assumptions. Not investment advice.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11 / 12</a:t>
            </a:r>
          </a:p>
        </p:txBody>
      </p:sp>
      <p:graphicFrame>
        <p:nvGraphicFramePr>
          <p:cNvPr id="6" name="Valuation table" descr="Table per bank: net profit, average tangible equity, RoTE and justified price to tangible book value for FY2024."/>
          <p:cNvGraphicFramePr>
            <a:graphicFrameLocks noGrp="1"/>
          </p:cNvGraphicFramePr>
          <p:nvPr/>
        </p:nvGraphicFramePr>
        <p:xfrm>
          <a:off x="320040" y="1188720"/>
          <a:ext cx="11521440" cy="19202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37360"/>
                <a:gridCol w="1645920"/>
                <a:gridCol w="1920240"/>
                <a:gridCol w="1280160"/>
                <a:gridCol w="1554480"/>
                <a:gridCol w="3383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Bank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Net profit 2024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Avg tangible equity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RoTE 2024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Justified P/TBV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1F5F9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anchor="ctr" marL="73152" marR="73152" marT="27432" marB="27432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E90E8"/>
                          </a:solidFill>
                          <a:latin typeface="Calibri"/>
                        </a:rPr>
                        <a:t>Eurobank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€1,448m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€8,025m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2.00x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Earns above the assumed cost of equity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05448"/>
                          </a:solidFill>
                          <a:latin typeface="Calibri"/>
                        </a:rPr>
                        <a:t>Alpha Bank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€654m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€6,737m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0.96x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87171"/>
                          </a:solidFill>
                          <a:latin typeface="Calibri"/>
                        </a:rPr>
                        <a:t>Earns slightly below the assumed cost of equity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7A600"/>
                          </a:solidFill>
                          <a:latin typeface="Calibri"/>
                        </a:rPr>
                        <a:t>Piraeus Bank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€1,066m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€6,776m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1.71x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Earns above the assumed cost of equity</a:t>
                      </a:r>
                    </a:p>
                  </a:txBody>
                  <a:tcPr anchor="ctr" marL="73152" marR="73152" marT="27432" marB="27432">
                    <a:solidFill>
                      <a:srgbClr val="0F1E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96A0FF"/>
                          </a:solidFill>
                          <a:latin typeface="Calibri"/>
                        </a:rPr>
                        <a:t>NBG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€1,158m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€7,450m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15.5%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1F5F9"/>
                          </a:solidFill>
                          <a:latin typeface="Calibri"/>
                        </a:rPr>
                        <a:t>1.69x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ADE80"/>
                          </a:solidFill>
                          <a:latin typeface="Calibri"/>
                        </a:rPr>
                        <a:t>Earns above the assumed cost of equity</a:t>
                      </a:r>
                    </a:p>
                  </a:txBody>
                  <a:tcPr anchor="ctr" marL="73152" marR="73152" marT="27432" marB="27432">
                    <a:solidFill>
                      <a:srgbClr val="142236"/>
                    </a:solidFill>
                  </a:tcPr>
                </a:tc>
              </a:tr>
            </a:tbl>
          </a:graphicData>
        </a:graphic>
      </p:graphicFrame>
      <p:pic>
        <p:nvPicPr>
          <p:cNvPr id="7" name="Justified P/TBV chart" descr="Bar chart of justified price to tangible book value: Eurobank 2.00x, Piraeus Bank 1.71x, NBG 1.69x, Alpha Bank 0.96x. A dashed line marks 1.0x, where a bank earns exactly its cost of equit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200400"/>
            <a:ext cx="4892040" cy="3050845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320040" y="3291840"/>
            <a:ext cx="6400800" cy="31089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900"/>
              </a:spcAft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What it measures.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The multiple of tangible book value that a bank's return would justify if it lasted. A bank that earns exactly its cost of equity is worth 1.0x.</a:t>
            </a:r>
          </a:p>
          <a:p>
            <a:pPr marL="182880" indent="-182880">
              <a:spcAft>
                <a:spcPts val="900"/>
              </a:spcAft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What it does not do.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No market prices are used, so the slide does not say whether any bank is cheap or expensive. It is a way to read returns, not a price target.</a:t>
            </a:r>
          </a:p>
          <a:p>
            <a:pPr marL="182880" indent="-182880">
              <a:spcAft>
                <a:spcPts val="900"/>
              </a:spcAft>
              <a:buFont typeface="Arial"/>
              <a:buChar char="•"/>
            </a:pPr>
            <a:r>
              <a:rPr sz="1300" b="1" i="0">
                <a:solidFill>
                  <a:srgbClr val="F1F5F9"/>
                </a:solidFill>
                <a:latin typeface="Calibri"/>
              </a:rPr>
              <a:t>Assumptions. </a:t>
            </a:r>
            <a:r>
              <a:rPr sz="1300" b="0" i="0">
                <a:solidFill>
                  <a:srgbClr val="A6B2C4"/>
                </a:solidFill>
                <a:latin typeface="Calibri"/>
              </a:rPr>
              <a:t>Cost of equity 10% and long-run growth 2% are stated assumptions. Change them and the multiples change. RoTE = net profit / average (equity less AT1 less goodwill and intangibles).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Header bar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91440"/>
            <a:ext cx="11521440" cy="566928"/>
          </a:xfrm>
        </p:spPr>
        <p:txBody>
          <a:bodyPr wrap="square" anchor="ctr" lIns="45720" tIns="0" rIns="45720" bIns="0">
            <a:no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Calibri"/>
              </a:rPr>
              <a:t>Methodology and Data Quality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Annual reports only. Report file and PDF page recorded for every figure.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r"/>
            <a:r>
              <a:rPr sz="1000" b="0" i="0">
                <a:solidFill>
                  <a:srgbClr val="A6B2C4"/>
                </a:solidFill>
                <a:latin typeface="Calibri"/>
              </a:rPr>
              <a:t>Greek Banking Sector Analysis 2022–2024  |  Spyros Papastergiou  |  Not investment advice  |  12 / 12</a:t>
            </a:r>
          </a:p>
        </p:txBody>
      </p:sp>
      <p:sp>
        <p:nvSpPr>
          <p:cNvPr id="6" name="Column header"/>
          <p:cNvSpPr/>
          <p:nvPr/>
        </p:nvSpPr>
        <p:spPr>
          <a:xfrm>
            <a:off x="320040" y="1188720"/>
            <a:ext cx="27432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lumn title"/>
          <p:cNvSpPr txBox="1"/>
          <p:nvPr/>
        </p:nvSpPr>
        <p:spPr>
          <a:xfrm>
            <a:off x="411479" y="1216152"/>
            <a:ext cx="2560320" cy="32918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Data</a:t>
            </a:r>
          </a:p>
        </p:txBody>
      </p:sp>
      <p:sp>
        <p:nvSpPr>
          <p:cNvPr id="8" name="Column text"/>
          <p:cNvSpPr txBox="1"/>
          <p:nvPr/>
        </p:nvSpPr>
        <p:spPr>
          <a:xfrm>
            <a:off x="320040" y="1691640"/>
            <a:ext cx="2743200" cy="2651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700"/>
              </a:spcAft>
              <a:buClr>
                <a:srgbClr val="2E90E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12 annual reports: FY2022, FY2023 and FY2024 of the four groups</a:t>
            </a:r>
          </a:p>
          <a:p>
            <a:pPr marL="182880" indent="-182880">
              <a:spcAft>
                <a:spcPts val="700"/>
              </a:spcAft>
              <a:buClr>
                <a:srgbClr val="2E90E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2024 and 2023 from the FY2024 reports (2023 restated), 2022 from the FY2023 reports</a:t>
            </a:r>
          </a:p>
          <a:p>
            <a:pPr marL="182880" indent="-182880">
              <a:spcAft>
                <a:spcPts val="700"/>
              </a:spcAft>
              <a:buClr>
                <a:srgbClr val="2E90E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Statements read with Python (pdfplumber). CET1, NPE, DTC and RWAs as reported at each year end</a:t>
            </a:r>
          </a:p>
        </p:txBody>
      </p:sp>
      <p:sp>
        <p:nvSpPr>
          <p:cNvPr id="9" name="Column header"/>
          <p:cNvSpPr/>
          <p:nvPr/>
        </p:nvSpPr>
        <p:spPr>
          <a:xfrm>
            <a:off x="3246120" y="1188720"/>
            <a:ext cx="27432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lumn title"/>
          <p:cNvSpPr txBox="1"/>
          <p:nvPr/>
        </p:nvSpPr>
        <p:spPr>
          <a:xfrm>
            <a:off x="3337560" y="1216152"/>
            <a:ext cx="2560320" cy="32918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Checks</a:t>
            </a:r>
          </a:p>
        </p:txBody>
      </p:sp>
      <p:sp>
        <p:nvSpPr>
          <p:cNvPr id="11" name="Column text"/>
          <p:cNvSpPr txBox="1"/>
          <p:nvPr/>
        </p:nvSpPr>
        <p:spPr>
          <a:xfrm>
            <a:off x="3246120" y="1691640"/>
            <a:ext cx="2743200" cy="2651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700"/>
              </a:spcAft>
              <a:buClr>
                <a:srgbClr val="F0544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Automated tests recompute ROE, ROA, NIM, cost of risk, cost-to-income and loan-to-deposit from the statement lines</a:t>
            </a:r>
          </a:p>
          <a:p>
            <a:pPr marL="182880" indent="-182880">
              <a:spcAft>
                <a:spcPts val="700"/>
              </a:spcAft>
              <a:buClr>
                <a:srgbClr val="F0544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Assets equal liabilities plus equity for every bank and year</a:t>
            </a:r>
          </a:p>
          <a:p>
            <a:pPr marL="182880" indent="-182880">
              <a:spcAft>
                <a:spcPts val="700"/>
              </a:spcAft>
              <a:buClr>
                <a:srgbClr val="F0544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Every statement line and ratio has a report page</a:t>
            </a:r>
          </a:p>
          <a:p>
            <a:pPr marL="182880" indent="-182880">
              <a:spcAft>
                <a:spcPts val="700"/>
              </a:spcAft>
              <a:buClr>
                <a:srgbClr val="F05448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DTC share of CET1 is checked against the figure disclosed by Alpha and Eurobank</a:t>
            </a:r>
          </a:p>
        </p:txBody>
      </p:sp>
      <p:sp>
        <p:nvSpPr>
          <p:cNvPr id="12" name="Column header"/>
          <p:cNvSpPr/>
          <p:nvPr/>
        </p:nvSpPr>
        <p:spPr>
          <a:xfrm>
            <a:off x="6172200" y="1188720"/>
            <a:ext cx="27432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umn title"/>
          <p:cNvSpPr txBox="1"/>
          <p:nvPr/>
        </p:nvSpPr>
        <p:spPr>
          <a:xfrm>
            <a:off x="6263640" y="1216152"/>
            <a:ext cx="2560320" cy="32918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Methods</a:t>
            </a:r>
          </a:p>
        </p:txBody>
      </p:sp>
      <p:sp>
        <p:nvSpPr>
          <p:cNvPr id="14" name="Column text"/>
          <p:cNvSpPr txBox="1"/>
          <p:nvPr/>
        </p:nvSpPr>
        <p:spPr>
          <a:xfrm>
            <a:off x="6172200" y="1691640"/>
            <a:ext cx="2743200" cy="2651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700"/>
              </a:spcAft>
              <a:buClr>
                <a:srgbClr val="F7A600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DuPont breakdown of ROE</a:t>
            </a:r>
          </a:p>
          <a:p>
            <a:pPr marL="182880" indent="-182880">
              <a:spcAft>
                <a:spcPts val="700"/>
              </a:spcAft>
              <a:buClr>
                <a:srgbClr val="F7A600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CAMELS-style scorecard, own cut-offs, not a supervisory rating</a:t>
            </a:r>
          </a:p>
          <a:p>
            <a:pPr marL="182880" indent="-182880">
              <a:spcAft>
                <a:spcPts val="700"/>
              </a:spcAft>
              <a:buClr>
                <a:srgbClr val="F7A600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NII rate, volume and mix walk</a:t>
            </a:r>
          </a:p>
          <a:p>
            <a:pPr marL="182880" indent="-182880">
              <a:spcAft>
                <a:spcPts val="700"/>
              </a:spcAft>
              <a:buClr>
                <a:srgbClr val="F7A600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One-year stress test and the official EBA 2023 results</a:t>
            </a:r>
          </a:p>
          <a:p>
            <a:pPr marL="182880" indent="-182880">
              <a:spcAft>
                <a:spcPts val="700"/>
              </a:spcAft>
              <a:buClr>
                <a:srgbClr val="F7A600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Justified P/TBV with stated assumptions</a:t>
            </a:r>
          </a:p>
        </p:txBody>
      </p:sp>
      <p:sp>
        <p:nvSpPr>
          <p:cNvPr id="15" name="Column header"/>
          <p:cNvSpPr/>
          <p:nvPr/>
        </p:nvSpPr>
        <p:spPr>
          <a:xfrm>
            <a:off x="9098280" y="1188720"/>
            <a:ext cx="27432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umn title"/>
          <p:cNvSpPr txBox="1"/>
          <p:nvPr/>
        </p:nvSpPr>
        <p:spPr>
          <a:xfrm>
            <a:off x="9189720" y="1216152"/>
            <a:ext cx="2560320" cy="32918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Limits</a:t>
            </a:r>
          </a:p>
        </p:txBody>
      </p:sp>
      <p:sp>
        <p:nvSpPr>
          <p:cNvPr id="17" name="Column text"/>
          <p:cNvSpPr txBox="1"/>
          <p:nvPr/>
        </p:nvSpPr>
        <p:spPr>
          <a:xfrm>
            <a:off x="9098280" y="1691640"/>
            <a:ext cx="2743200" cy="2651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marL="182880" indent="-182880">
              <a:spcAft>
                <a:spcPts val="700"/>
              </a:spcAft>
              <a:buClr>
                <a:srgbClr val="96A0FF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Yearly data only, so no view inside the year</a:t>
            </a:r>
          </a:p>
          <a:p>
            <a:pPr marL="182880" indent="-182880">
              <a:spcAft>
                <a:spcPts val="700"/>
              </a:spcAft>
              <a:buClr>
                <a:srgbClr val="96A0FF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CET1 ratios are as reported: Eurobank's 16.8% is before its FY2024 dividend accrual, the other three include FY2024 profit. NPE ratios follow each bank's own definition</a:t>
            </a:r>
          </a:p>
          <a:p>
            <a:pPr marL="182880" indent="-182880">
              <a:spcAft>
                <a:spcPts val="700"/>
              </a:spcAft>
              <a:buClr>
                <a:srgbClr val="96A0FF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Operating income and expenses follow each bank's own presentation</a:t>
            </a:r>
          </a:p>
          <a:p>
            <a:pPr marL="182880" indent="-182880">
              <a:spcAft>
                <a:spcPts val="700"/>
              </a:spcAft>
              <a:buClr>
                <a:srgbClr val="96A0FF"/>
              </a:buClr>
              <a:buFont typeface="Arial"/>
              <a:buChar char="•"/>
            </a:pPr>
            <a:r>
              <a:rPr sz="1250" b="0" i="0">
                <a:solidFill>
                  <a:srgbClr val="A6B2C4"/>
                </a:solidFill>
                <a:latin typeface="Calibri"/>
              </a:rPr>
              <a:t>Stress test and NII scenario are simple and static: directional only</a:t>
            </a:r>
          </a:p>
        </p:txBody>
      </p:sp>
      <p:sp>
        <p:nvSpPr>
          <p:cNvPr id="18" name="Trace box"/>
          <p:cNvSpPr/>
          <p:nvPr/>
        </p:nvSpPr>
        <p:spPr>
          <a:xfrm>
            <a:off x="320040" y="4407408"/>
            <a:ext cx="11521440" cy="594360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accent"/>
          <p:cNvSpPr/>
          <p:nvPr/>
        </p:nvSpPr>
        <p:spPr>
          <a:xfrm>
            <a:off x="320040" y="4407408"/>
            <a:ext cx="64008" cy="594360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e text"/>
          <p:cNvSpPr txBox="1"/>
          <p:nvPr/>
        </p:nvSpPr>
        <p:spPr>
          <a:xfrm>
            <a:off x="502920" y="4507992"/>
            <a:ext cx="11155680" cy="411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Calibri"/>
              </a:rPr>
              <a:t>To check a number: </a:t>
            </a:r>
            <a:r>
              <a:rPr sz="1400" b="0" i="0">
                <a:solidFill>
                  <a:srgbClr val="A6B2C4"/>
                </a:solidFill>
                <a:latin typeface="Calibri"/>
              </a:rPr>
              <a:t>find it in sources.csv in the repository. It lists the report file and the PDF page of every figure used here.</a:t>
            </a:r>
          </a:p>
        </p:txBody>
      </p:sp>
      <p:sp>
        <p:nvSpPr>
          <p:cNvPr id="21" name="Rule"/>
          <p:cNvSpPr/>
          <p:nvPr/>
        </p:nvSpPr>
        <p:spPr>
          <a:xfrm>
            <a:off x="320040" y="5138928"/>
            <a:ext cx="11521440" cy="27432"/>
          </a:xfrm>
          <a:prstGeom prst="rect">
            <a:avLst/>
          </a:prstGeom>
          <a:solidFill>
            <a:srgbClr val="2E9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ntities title"/>
          <p:cNvSpPr txBox="1"/>
          <p:nvPr/>
        </p:nvSpPr>
        <p:spPr>
          <a:xfrm>
            <a:off x="320040" y="5230368"/>
            <a:ext cx="5486400" cy="2743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Entities (consolidated group figures)</a:t>
            </a:r>
          </a:p>
        </p:txBody>
      </p:sp>
      <p:sp>
        <p:nvSpPr>
          <p:cNvPr id="23" name="Entities"/>
          <p:cNvSpPr txBox="1"/>
          <p:nvPr/>
        </p:nvSpPr>
        <p:spPr>
          <a:xfrm>
            <a:off x="320040" y="5486400"/>
            <a:ext cx="1152144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A6B2C4"/>
                </a:solidFill>
                <a:latin typeface="Calibri"/>
              </a:rPr>
              <a:t>Alpha Services and Holdings S.A., Eurobank Ergasias Services and Holdings S.A., National Bank of Greece S.A., Piraeus Financial Holdings S.A.</a:t>
            </a:r>
          </a:p>
        </p:txBody>
      </p:sp>
      <p:sp>
        <p:nvSpPr>
          <p:cNvPr id="24" name="Contact"/>
          <p:cNvSpPr txBox="1"/>
          <p:nvPr/>
        </p:nvSpPr>
        <p:spPr>
          <a:xfrm>
            <a:off x="320040" y="5943600"/>
            <a:ext cx="11521440" cy="2743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Spyros Papastergiou   |   papastergiousp@gmail.com   |   github.com/papastergiousp-maker/greek-banking-sector-analysis   |   phytai.com/dashboard</a:t>
            </a:r>
          </a:p>
        </p:txBody>
      </p:sp>
      <p:sp>
        <p:nvSpPr>
          <p:cNvPr id="25" name="Disclaimer"/>
          <p:cNvSpPr txBox="1"/>
          <p:nvPr/>
        </p:nvSpPr>
        <p:spPr>
          <a:xfrm>
            <a:off x="320040" y="6199632"/>
            <a:ext cx="11521440" cy="2743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Autofit/>
          </a:bodyPr>
          <a:lstStyle/>
          <a:p>
            <a:pPr algn="l"/>
            <a:r>
              <a:rPr sz="1100" b="0" i="1">
                <a:solidFill>
                  <a:srgbClr val="A6B2C4"/>
                </a:solidFill>
                <a:latin typeface="Calibri"/>
              </a:rPr>
              <a:t>For portfolio and educational purposes only.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Greek Banking Sector Analysis 2022–2024</dc:title>
  <dc:subject>Eurobank, Alpha Bank, Piraeus Bank and NBG, FY2022–2024. Not investment advice.</dc:subject>
  <dc:creator>Spyros Papastergiou</dc:creator>
  <cp:keywords>Greek banks, net interest income, stress test, CET1, DTC, justified P/TBV</cp:keywords>
  <dc:description>Built by _build_pptx.py from kpis_final.csv. Contact: papastergiousp@gmail.com</dc:description>
  <cp:lastModifiedBy>Spyros Papastergiou</cp:lastModifiedBy>
  <cp:revision>1</cp:revision>
  <dcterms:created xsi:type="dcterms:W3CDTF">2026-10-18T16:04:12Z</dcterms:created>
  <dcterms:modified xsi:type="dcterms:W3CDTF">2026-10-18T16:04:12Z</dcterms:modified>
  <cp:category/>
</cp:coreProperties>
</file>